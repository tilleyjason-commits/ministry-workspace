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8016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age 1 - Inside Bulletin">
    <p:spTree>
      <p:nvGrpSpPr>
        <p:cNvPr id="1" name=""/>
        <p:cNvGrpSpPr/>
        <p:nvPr/>
      </p:nvGrpSpPr>
      <p:grpSpPr/>
      <p:sp>
        <p:nvSpPr>
          <p:cNvPr id="2" name="Fold guide - delete or hide before final print if desired"/>
          <p:cNvSpPr/>
          <p:nvPr/>
        </p:nvSpPr>
        <p:spPr>
          <a:xfrm>
            <a:off x="4267200" y="0"/>
            <a:ext cx="914" cy="777240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ld guide - delete or hide before final print if desired"/>
          <p:cNvSpPr/>
          <p:nvPr/>
        </p:nvSpPr>
        <p:spPr>
          <a:xfrm>
            <a:off x="8534400" y="0"/>
            <a:ext cx="914" cy="777240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Static Logo - Abundant Life Red" descr="p1_img1_xref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3246120" cy="941832"/>
          </a:xfrm>
          <a:prstGeom prst="rect">
            <a:avLst/>
          </a:prstGeom>
        </p:spPr>
      </p:pic>
      <p:sp>
        <p:nvSpPr>
          <p:cNvPr id="5" name="Pastor Name"/>
          <p:cNvSpPr txBox="1"/>
          <p:nvPr/>
        </p:nvSpPr>
        <p:spPr>
          <a:xfrm>
            <a:off x="594360" y="1097280"/>
            <a:ext cx="2834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200" b="1" i="0">
                <a:solidFill>
                  <a:srgbClr val="111111"/>
                </a:solidFill>
                <a:latin typeface="Calibri"/>
              </a:defRPr>
            </a:pPr>
            <a:r>
              <a:t>Jason Tilley, Senior Pastor</a:t>
            </a:r>
          </a:p>
        </p:txBody>
      </p:sp>
      <p:sp>
        <p:nvSpPr>
          <p:cNvPr id="6" name="Weekly Date"/>
          <p:cNvSpPr txBox="1"/>
          <p:nvPr/>
        </p:nvSpPr>
        <p:spPr>
          <a:xfrm>
            <a:off x="1051560" y="1389888"/>
            <a:ext cx="192024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600" b="1" i="0">
                <a:solidFill>
                  <a:srgbClr val="075E80"/>
                </a:solidFill>
                <a:latin typeface="Calibri"/>
              </a:defRPr>
            </a:pPr>
            <a:r>
              <a:t>[DATE]</a:t>
            </a:r>
          </a:p>
        </p:txBody>
      </p:sp>
      <p:sp>
        <p:nvSpPr>
          <p:cNvPr id="7" name="Welcome Text"/>
          <p:cNvSpPr txBox="1"/>
          <p:nvPr/>
        </p:nvSpPr>
        <p:spPr>
          <a:xfrm>
            <a:off x="292608" y="1755648"/>
            <a:ext cx="3703320" cy="438912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100" b="0" i="0">
                <a:solidFill>
                  <a:srgbClr val="111111"/>
                </a:solidFill>
                <a:latin typeface="Calibri"/>
              </a:defRPr>
            </a:pPr>
            <a:r>
              <a:t>We invite you to worship with us today as we give praise and honor to Jesus Christ, our Lord and Savior.</a:t>
            </a:r>
          </a:p>
        </p:txBody>
      </p:sp>
      <p:sp>
        <p:nvSpPr>
          <p:cNvPr id="8" name="Service Times Header"/>
          <p:cNvSpPr/>
          <p:nvPr/>
        </p:nvSpPr>
        <p:spPr>
          <a:xfrm>
            <a:off x="347472" y="2331720"/>
            <a:ext cx="3566160" cy="256032"/>
          </a:xfrm>
          <a:prstGeom prst="rect">
            <a:avLst/>
          </a:prstGeom>
          <a:solidFill>
            <a:srgbClr val="0B7FAB"/>
          </a:solidFill>
          <a:ln w="9525">
            <a:solidFill>
              <a:srgbClr val="0B7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>
            <a:norm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SERVICE TIMES</a:t>
            </a:r>
          </a:p>
        </p:txBody>
      </p:sp>
      <p:sp>
        <p:nvSpPr>
          <p:cNvPr id="9" name="Service Times Box"/>
          <p:cNvSpPr/>
          <p:nvPr/>
        </p:nvSpPr>
        <p:spPr>
          <a:xfrm>
            <a:off x="347472" y="2624327"/>
            <a:ext cx="356616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ervice Times Text"/>
          <p:cNvSpPr txBox="1"/>
          <p:nvPr/>
        </p:nvSpPr>
        <p:spPr>
          <a:xfrm>
            <a:off x="420624" y="2697479"/>
            <a:ext cx="3419856" cy="82296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Calibri"/>
              </a:defRPr>
            </a:pPr>
            <a:r>
              <a:t>Sunday School — 10:00 a.m.</a:t>
            </a:r>
            <a:br/>
            <a:r>
              <a:t>Sunday Morning Worship — 11:00 a.m.</a:t>
            </a:r>
            <a:br/>
            <a:r>
              <a:t>Children’s Church — 11:30 a.m.</a:t>
            </a:r>
            <a:br/>
            <a:r>
              <a:t>Celebrate Recovery — Tuesday 6:00 p.m.</a:t>
            </a:r>
            <a:br/>
            <a:r>
              <a:t>Wednesday Night Services — 6:30 p.m.</a:t>
            </a:r>
          </a:p>
        </p:txBody>
      </p:sp>
      <p:sp>
        <p:nvSpPr>
          <p:cNvPr id="11" name="Pastor Note Header"/>
          <p:cNvSpPr/>
          <p:nvPr/>
        </p:nvSpPr>
        <p:spPr>
          <a:xfrm>
            <a:off x="347472" y="3794760"/>
            <a:ext cx="3566160" cy="256032"/>
          </a:xfrm>
          <a:prstGeom prst="rect">
            <a:avLst/>
          </a:prstGeom>
          <a:solidFill>
            <a:srgbClr val="075E80"/>
          </a:solidFill>
          <a:ln w="9525">
            <a:solidFill>
              <a:srgbClr val="075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>
            <a:norm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WEEKLY SCRIPTURE / PASTOR NOTE</a:t>
            </a:r>
          </a:p>
        </p:txBody>
      </p:sp>
      <p:sp>
        <p:nvSpPr>
          <p:cNvPr id="12" name="Pastor Note Box"/>
          <p:cNvSpPr/>
          <p:nvPr/>
        </p:nvSpPr>
        <p:spPr>
          <a:xfrm>
            <a:off x="347472" y="4087368"/>
            <a:ext cx="356616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stor Note Text"/>
          <p:cNvSpPr txBox="1"/>
          <p:nvPr/>
        </p:nvSpPr>
        <p:spPr>
          <a:xfrm>
            <a:off x="420624" y="4160520"/>
            <a:ext cx="3419856" cy="205740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Calibri"/>
              </a:defRPr>
            </a:pPr>
            <a:r>
              <a:t>[SCRIPTURE REFERENCE]</a:t>
            </a:r>
            <a:br/>
            <a:br/>
            <a:r>
              <a:t>Paste the weekly verse, short devotion, or pastor note here. Keep this to about 80–120 words for best fit.</a:t>
            </a:r>
            <a:br/>
            <a:br/>
            <a:r>
              <a:t>Pastor Jason Tilley</a:t>
            </a:r>
          </a:p>
        </p:txBody>
      </p:sp>
      <p:sp>
        <p:nvSpPr>
          <p:cNvPr id="14" name="Announcements Panel Title"/>
          <p:cNvSpPr txBox="1"/>
          <p:nvPr/>
        </p:nvSpPr>
        <p:spPr>
          <a:xfrm>
            <a:off x="4541520" y="228600"/>
            <a:ext cx="37033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600" b="1" i="0">
                <a:solidFill>
                  <a:srgbClr val="075E80"/>
                </a:solidFill>
                <a:latin typeface="Georgia"/>
              </a:defRPr>
            </a:pPr>
            <a:r>
              <a:t>This Week at Abundant Life</a:t>
            </a:r>
          </a:p>
        </p:txBody>
      </p:sp>
      <p:sp>
        <p:nvSpPr>
          <p:cNvPr id="15" name="Weekly Image Placeholder"/>
          <p:cNvSpPr/>
          <p:nvPr/>
        </p:nvSpPr>
        <p:spPr>
          <a:xfrm>
            <a:off x="4651248" y="713232"/>
            <a:ext cx="1600200" cy="160020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Weekly Image Placeholder Text"/>
          <p:cNvSpPr txBox="1"/>
          <p:nvPr/>
        </p:nvSpPr>
        <p:spPr>
          <a:xfrm>
            <a:off x="4861560" y="1216152"/>
            <a:ext cx="1170432" cy="347472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t>Drop weekly</a:t>
            </a:r>
            <a:br/>
            <a:r>
              <a:t>image here</a:t>
            </a:r>
          </a:p>
        </p:txBody>
      </p:sp>
      <p:sp>
        <p:nvSpPr>
          <p:cNvPr id="17" name="Featured Announcement Header"/>
          <p:cNvSpPr/>
          <p:nvPr/>
        </p:nvSpPr>
        <p:spPr>
          <a:xfrm>
            <a:off x="6416040" y="713232"/>
            <a:ext cx="1664208" cy="256032"/>
          </a:xfrm>
          <a:prstGeom prst="rect">
            <a:avLst/>
          </a:prstGeom>
          <a:solidFill>
            <a:srgbClr val="F3A536"/>
          </a:solidFill>
          <a:ln w="9525">
            <a:solidFill>
              <a:srgbClr val="F3A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>
            <a:norm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FEATURED ANNOUNCEMENT</a:t>
            </a:r>
          </a:p>
        </p:txBody>
      </p:sp>
      <p:sp>
        <p:nvSpPr>
          <p:cNvPr id="18" name="Featured Announcement Box"/>
          <p:cNvSpPr/>
          <p:nvPr/>
        </p:nvSpPr>
        <p:spPr>
          <a:xfrm>
            <a:off x="6416040" y="1005840"/>
            <a:ext cx="1664208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eatured Announcement Text"/>
          <p:cNvSpPr txBox="1"/>
          <p:nvPr/>
        </p:nvSpPr>
        <p:spPr>
          <a:xfrm>
            <a:off x="6489192" y="1078992"/>
            <a:ext cx="1517904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Calibri"/>
              </a:defRPr>
            </a:pPr>
            <a:r>
              <a:t>[TITLE]</a:t>
            </a:r>
            <a:br/>
            <a:r>
              <a:t>[Date / Time]</a:t>
            </a:r>
            <a:br/>
            <a:br/>
            <a:r>
              <a:t>Paste the main announcement here. This box is for the highest-priority item, event, or ministry emphasis.</a:t>
            </a:r>
          </a:p>
        </p:txBody>
      </p:sp>
      <p:sp>
        <p:nvSpPr>
          <p:cNvPr id="20" name="Announcements Header"/>
          <p:cNvSpPr/>
          <p:nvPr/>
        </p:nvSpPr>
        <p:spPr>
          <a:xfrm>
            <a:off x="4651248" y="2514600"/>
            <a:ext cx="3429000" cy="256032"/>
          </a:xfrm>
          <a:prstGeom prst="rect">
            <a:avLst/>
          </a:prstGeom>
          <a:solidFill>
            <a:srgbClr val="0B7FAB"/>
          </a:solidFill>
          <a:ln w="9525">
            <a:solidFill>
              <a:srgbClr val="0B7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>
            <a:norm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ANNOUNCEMENTS</a:t>
            </a:r>
          </a:p>
        </p:txBody>
      </p:sp>
      <p:sp>
        <p:nvSpPr>
          <p:cNvPr id="21" name="Announcements Box"/>
          <p:cNvSpPr/>
          <p:nvPr/>
        </p:nvSpPr>
        <p:spPr>
          <a:xfrm>
            <a:off x="4651248" y="2807208"/>
            <a:ext cx="3429000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nouncements Text"/>
          <p:cNvSpPr txBox="1"/>
          <p:nvPr/>
        </p:nvSpPr>
        <p:spPr>
          <a:xfrm>
            <a:off x="4724400" y="2880360"/>
            <a:ext cx="3282696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Calibri"/>
              </a:defRPr>
            </a:pPr>
            <a:r>
              <a:t>• [Announcement 1]</a:t>
            </a:r>
            <a:br/>
            <a:r>
              <a:t>• [Announcement 2]</a:t>
            </a:r>
            <a:br/>
            <a:r>
              <a:t>• [Announcement 3]</a:t>
            </a:r>
            <a:br/>
            <a:r>
              <a:t>• [Volunteer need / reminder]</a:t>
            </a:r>
          </a:p>
        </p:txBody>
      </p:sp>
      <p:sp>
        <p:nvSpPr>
          <p:cNvPr id="23" name="Ministry Updates Header"/>
          <p:cNvSpPr/>
          <p:nvPr/>
        </p:nvSpPr>
        <p:spPr>
          <a:xfrm>
            <a:off x="4651248" y="4133087"/>
            <a:ext cx="3429000" cy="256032"/>
          </a:xfrm>
          <a:prstGeom prst="rect">
            <a:avLst/>
          </a:prstGeom>
          <a:solidFill>
            <a:srgbClr val="F3A536"/>
          </a:solidFill>
          <a:ln w="9525">
            <a:solidFill>
              <a:srgbClr val="F3A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>
            <a:norm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CHILDREN / YOUTH / MINISTRY UPDATES</a:t>
            </a:r>
          </a:p>
        </p:txBody>
      </p:sp>
      <p:sp>
        <p:nvSpPr>
          <p:cNvPr id="24" name="Ministry Updates Box"/>
          <p:cNvSpPr/>
          <p:nvPr/>
        </p:nvSpPr>
        <p:spPr>
          <a:xfrm>
            <a:off x="4651248" y="4425696"/>
            <a:ext cx="3429000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inistry Updates Text"/>
          <p:cNvSpPr txBox="1"/>
          <p:nvPr/>
        </p:nvSpPr>
        <p:spPr>
          <a:xfrm>
            <a:off x="4724400" y="4498848"/>
            <a:ext cx="3282696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Calibri"/>
              </a:defRPr>
            </a:pPr>
            <a:r>
              <a:t>Paste children’s ministry, youth group, Celebrate Recovery, Operation Christmas Child, or volunteer updates here.</a:t>
            </a:r>
          </a:p>
        </p:txBody>
      </p:sp>
      <p:sp>
        <p:nvSpPr>
          <p:cNvPr id="26" name="Template Tip Announcements"/>
          <p:cNvSpPr txBox="1"/>
          <p:nvPr/>
        </p:nvSpPr>
        <p:spPr>
          <a:xfrm>
            <a:off x="4706112" y="5715000"/>
            <a:ext cx="32918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850" b="0" i="1">
                <a:solidFill>
                  <a:srgbClr val="555555"/>
                </a:solidFill>
                <a:latin typeface="Calibri"/>
              </a:defRPr>
            </a:pPr>
            <a:r>
              <a:t>Tip: keep each announcement to 1–2 short lines for readability.</a:t>
            </a:r>
          </a:p>
        </p:txBody>
      </p:sp>
      <p:sp>
        <p:nvSpPr>
          <p:cNvPr id="27" name="Prayer Requests Header"/>
          <p:cNvSpPr/>
          <p:nvPr/>
        </p:nvSpPr>
        <p:spPr>
          <a:xfrm>
            <a:off x="8854440" y="228600"/>
            <a:ext cx="3611880" cy="256032"/>
          </a:xfrm>
          <a:prstGeom prst="rect">
            <a:avLst/>
          </a:prstGeom>
          <a:solidFill>
            <a:srgbClr val="0B7FAB"/>
          </a:solidFill>
          <a:ln w="9525">
            <a:solidFill>
              <a:srgbClr val="0B7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>
            <a:norm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PRAYER REQUESTS</a:t>
            </a:r>
          </a:p>
        </p:txBody>
      </p:sp>
      <p:sp>
        <p:nvSpPr>
          <p:cNvPr id="28" name="Prayer Requests Box"/>
          <p:cNvSpPr/>
          <p:nvPr/>
        </p:nvSpPr>
        <p:spPr>
          <a:xfrm>
            <a:off x="8854440" y="521208"/>
            <a:ext cx="3611880" cy="304495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ayer Requests Text"/>
          <p:cNvSpPr txBox="1"/>
          <p:nvPr/>
        </p:nvSpPr>
        <p:spPr>
          <a:xfrm>
            <a:off x="8927592" y="594360"/>
            <a:ext cx="3465576" cy="2926079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Calibri"/>
              </a:defRPr>
            </a:pPr>
            <a:r>
              <a:t>• [Newest request]</a:t>
            </a:r>
            <a:br/>
            <a:r>
              <a:t>• [Name / request]</a:t>
            </a:r>
            <a:br/>
            <a:r>
              <a:t>• [Name / request]</a:t>
            </a:r>
            <a:br/>
            <a:r>
              <a:t>• [Name / request]</a:t>
            </a:r>
            <a:br/>
            <a:r>
              <a:t>• [Name / request]</a:t>
            </a:r>
            <a:br/>
            <a:r>
              <a:t>• [Name / request]</a:t>
            </a:r>
            <a:br/>
            <a:r>
              <a:t>• [Name / request]</a:t>
            </a:r>
            <a:br/>
            <a:r>
              <a:t>• [Name / request]</a:t>
            </a:r>
          </a:p>
        </p:txBody>
      </p:sp>
      <p:sp>
        <p:nvSpPr>
          <p:cNvPr id="30" name="Praise Reports Header"/>
          <p:cNvSpPr/>
          <p:nvPr/>
        </p:nvSpPr>
        <p:spPr>
          <a:xfrm>
            <a:off x="8854440" y="3767328"/>
            <a:ext cx="3611880" cy="256032"/>
          </a:xfrm>
          <a:prstGeom prst="rect">
            <a:avLst/>
          </a:prstGeom>
          <a:solidFill>
            <a:srgbClr val="F3A536"/>
          </a:solidFill>
          <a:ln w="9525">
            <a:solidFill>
              <a:srgbClr val="F3A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>
            <a:norm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PRAISE REPORTS</a:t>
            </a:r>
          </a:p>
        </p:txBody>
      </p:sp>
      <p:sp>
        <p:nvSpPr>
          <p:cNvPr id="31" name="Praise Reports Box"/>
          <p:cNvSpPr/>
          <p:nvPr/>
        </p:nvSpPr>
        <p:spPr>
          <a:xfrm>
            <a:off x="8854440" y="4059936"/>
            <a:ext cx="361188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raise Reports Text"/>
          <p:cNvSpPr txBox="1"/>
          <p:nvPr/>
        </p:nvSpPr>
        <p:spPr>
          <a:xfrm>
            <a:off x="8927592" y="4133088"/>
            <a:ext cx="3465576" cy="73152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Calibri"/>
              </a:defRPr>
            </a:pPr>
            <a:r>
              <a:t>• [Praise report]</a:t>
            </a:r>
            <a:br/>
            <a:r>
              <a:t>• [Praise report]</a:t>
            </a:r>
            <a:br/>
            <a:r>
              <a:t>• [Praise report]</a:t>
            </a:r>
          </a:p>
        </p:txBody>
      </p:sp>
      <p:sp>
        <p:nvSpPr>
          <p:cNvPr id="33" name="Cleaning Volunteer Box"/>
          <p:cNvSpPr/>
          <p:nvPr/>
        </p:nvSpPr>
        <p:spPr>
          <a:xfrm>
            <a:off x="8854440" y="5138928"/>
            <a:ext cx="3611880" cy="850392"/>
          </a:xfrm>
          <a:prstGeom prst="roundRect">
            <a:avLst/>
          </a:prstGeom>
          <a:solidFill>
            <a:srgbClr val="EAF6FB"/>
          </a:solidFill>
          <a:ln w="9525">
            <a:solidFill>
              <a:srgbClr val="BB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olunteer Header"/>
          <p:cNvSpPr txBox="1"/>
          <p:nvPr/>
        </p:nvSpPr>
        <p:spPr>
          <a:xfrm>
            <a:off x="8973312" y="5230368"/>
            <a:ext cx="3364992" cy="219456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100" b="1" i="0">
                <a:solidFill>
                  <a:srgbClr val="075E80"/>
                </a:solidFill>
                <a:latin typeface="Calibri"/>
              </a:defRPr>
            </a:pPr>
            <a:r>
              <a:t>Volunteer / Cleaning Need</a:t>
            </a:r>
          </a:p>
        </p:txBody>
      </p:sp>
      <p:sp>
        <p:nvSpPr>
          <p:cNvPr id="35" name="Volunteer Reminder"/>
          <p:cNvSpPr txBox="1"/>
          <p:nvPr/>
        </p:nvSpPr>
        <p:spPr>
          <a:xfrm>
            <a:off x="9037320" y="5504688"/>
            <a:ext cx="31546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050" b="0" i="0">
                <a:solidFill>
                  <a:srgbClr val="111111"/>
                </a:solidFill>
                <a:latin typeface="Calibri"/>
              </a:defRPr>
            </a:pPr>
            <a:r>
              <a:t>[Paste volunteer or cleaning reminder here.]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age 2 - Outside Bulletin">
    <p:spTree>
      <p:nvGrpSpPr>
        <p:cNvPr id="1" name=""/>
        <p:cNvGrpSpPr/>
        <p:nvPr/>
      </p:nvGrpSpPr>
      <p:grpSpPr/>
      <p:sp>
        <p:nvSpPr>
          <p:cNvPr id="2" name="Fold guide - delete or hide before final print if desired"/>
          <p:cNvSpPr/>
          <p:nvPr/>
        </p:nvSpPr>
        <p:spPr>
          <a:xfrm>
            <a:off x="4267200" y="0"/>
            <a:ext cx="914" cy="777240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ld guide - delete or hide before final print if desired"/>
          <p:cNvSpPr/>
          <p:nvPr/>
        </p:nvSpPr>
        <p:spPr>
          <a:xfrm>
            <a:off x="8534400" y="0"/>
            <a:ext cx="914" cy="777240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over Logo - Abundant Life White" descr="p1_img2_xref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4320"/>
            <a:ext cx="3474720" cy="1005840"/>
          </a:xfrm>
          <a:prstGeom prst="rect">
            <a:avLst/>
          </a:prstGeom>
        </p:spPr>
      </p:pic>
      <p:pic>
        <p:nvPicPr>
          <p:cNvPr id="5" name="Cover Logo - Family Worship Center" descr="p1_img4_xref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4712"/>
            <a:ext cx="3063240" cy="822960"/>
          </a:xfrm>
          <a:prstGeom prst="rect">
            <a:avLst/>
          </a:prstGeom>
        </p:spPr>
      </p:pic>
      <p:sp>
        <p:nvSpPr>
          <p:cNvPr id="6" name="Cover Photo Placeholder"/>
          <p:cNvSpPr/>
          <p:nvPr/>
        </p:nvSpPr>
        <p:spPr>
          <a:xfrm>
            <a:off x="594360" y="2130552"/>
            <a:ext cx="2971800" cy="201168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ver Photo Placeholder Text"/>
          <p:cNvSpPr txBox="1"/>
          <p:nvPr/>
        </p:nvSpPr>
        <p:spPr>
          <a:xfrm>
            <a:off x="1051560" y="2926080"/>
            <a:ext cx="20116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400" b="0" i="0">
                <a:solidFill>
                  <a:srgbClr val="555555"/>
                </a:solidFill>
                <a:latin typeface="Calibri"/>
              </a:defRPr>
            </a:pPr>
            <a:r>
              <a:t>Drop church photo</a:t>
            </a:r>
            <a:br/>
            <a:r>
              <a:t>or seasonal image here</a:t>
            </a:r>
          </a:p>
        </p:txBody>
      </p:sp>
      <p:sp>
        <p:nvSpPr>
          <p:cNvPr id="8" name="Cover Verse"/>
          <p:cNvSpPr txBox="1"/>
          <p:nvPr/>
        </p:nvSpPr>
        <p:spPr>
          <a:xfrm>
            <a:off x="457200" y="4370832"/>
            <a:ext cx="338328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000" b="0" i="1">
                <a:solidFill>
                  <a:srgbClr val="111111"/>
                </a:solidFill>
                <a:latin typeface="Calibri"/>
              </a:defRPr>
            </a:pPr>
            <a:r>
              <a:t>The life I now live, I live by faith in the Son of God, who loved me and gave Himself for me. — Galatians 2:20</a:t>
            </a:r>
          </a:p>
        </p:txBody>
      </p:sp>
      <p:sp>
        <p:nvSpPr>
          <p:cNvPr id="9" name="Church Contact"/>
          <p:cNvSpPr txBox="1"/>
          <p:nvPr/>
        </p:nvSpPr>
        <p:spPr>
          <a:xfrm>
            <a:off x="566928" y="5212080"/>
            <a:ext cx="31546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900" b="0" i="0">
                <a:solidFill>
                  <a:srgbClr val="555555"/>
                </a:solidFill>
                <a:latin typeface="Calibri"/>
              </a:defRPr>
            </a:pPr>
            <a:r>
              <a:t>179 Old Hwy 22 • Cedar Grove, TN 38321</a:t>
            </a:r>
            <a:br/>
            <a:r>
              <a:t>www.abundantlifefamilyworship.com</a:t>
            </a:r>
          </a:p>
        </p:txBody>
      </p:sp>
      <p:sp>
        <p:nvSpPr>
          <p:cNvPr id="10" name="Cover Date"/>
          <p:cNvSpPr txBox="1"/>
          <p:nvPr/>
        </p:nvSpPr>
        <p:spPr>
          <a:xfrm>
            <a:off x="1170432" y="5870448"/>
            <a:ext cx="1874519" cy="310896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600" b="1" i="0">
                <a:solidFill>
                  <a:srgbClr val="075E80"/>
                </a:solidFill>
                <a:latin typeface="Calibri"/>
              </a:defRPr>
            </a:pPr>
            <a:r>
              <a:t>[DATE]</a:t>
            </a:r>
          </a:p>
        </p:txBody>
      </p:sp>
      <p:pic>
        <p:nvPicPr>
          <p:cNvPr id="11" name="Birthdays and Anniversaries Banner" descr="p2_img1_xref15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128" y="164592"/>
            <a:ext cx="2788920" cy="1143000"/>
          </a:xfrm>
          <a:prstGeom prst="rect">
            <a:avLst/>
          </a:prstGeom>
        </p:spPr>
      </p:pic>
      <p:sp>
        <p:nvSpPr>
          <p:cNvPr id="12" name="Anniversaries Header"/>
          <p:cNvSpPr/>
          <p:nvPr/>
        </p:nvSpPr>
        <p:spPr>
          <a:xfrm>
            <a:off x="4541520" y="1481328"/>
            <a:ext cx="1691640" cy="256032"/>
          </a:xfrm>
          <a:prstGeom prst="rect">
            <a:avLst/>
          </a:prstGeom>
          <a:solidFill>
            <a:srgbClr val="F3A536"/>
          </a:solidFill>
          <a:ln w="9525">
            <a:solidFill>
              <a:srgbClr val="F3A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>
            <a:norm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ANNIVERSARIES</a:t>
            </a:r>
          </a:p>
        </p:txBody>
      </p:sp>
      <p:sp>
        <p:nvSpPr>
          <p:cNvPr id="13" name="Anniversaries Box"/>
          <p:cNvSpPr/>
          <p:nvPr/>
        </p:nvSpPr>
        <p:spPr>
          <a:xfrm>
            <a:off x="4541520" y="1773936"/>
            <a:ext cx="1691640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nniversaries Text"/>
          <p:cNvSpPr txBox="1"/>
          <p:nvPr/>
        </p:nvSpPr>
        <p:spPr>
          <a:xfrm>
            <a:off x="4614672" y="1847088"/>
            <a:ext cx="1545336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Calibri"/>
              </a:defRPr>
            </a:pPr>
            <a:r>
              <a:t>MM/DD - Name &amp; Name</a:t>
            </a:r>
            <a:br/>
            <a:r>
              <a:t>MM/DD - Name &amp; Name</a:t>
            </a:r>
          </a:p>
        </p:txBody>
      </p:sp>
      <p:sp>
        <p:nvSpPr>
          <p:cNvPr id="15" name="Birthdays Header"/>
          <p:cNvSpPr/>
          <p:nvPr/>
        </p:nvSpPr>
        <p:spPr>
          <a:xfrm>
            <a:off x="6352032" y="1481328"/>
            <a:ext cx="1691640" cy="256032"/>
          </a:xfrm>
          <a:prstGeom prst="rect">
            <a:avLst/>
          </a:prstGeom>
          <a:solidFill>
            <a:srgbClr val="0B7FAB"/>
          </a:solidFill>
          <a:ln w="9525">
            <a:solidFill>
              <a:srgbClr val="0B7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>
            <a:norm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BIRTHDAYS</a:t>
            </a:r>
          </a:p>
        </p:txBody>
      </p:sp>
      <p:sp>
        <p:nvSpPr>
          <p:cNvPr id="16" name="Birthdays Box"/>
          <p:cNvSpPr/>
          <p:nvPr/>
        </p:nvSpPr>
        <p:spPr>
          <a:xfrm>
            <a:off x="6352032" y="1773936"/>
            <a:ext cx="1691640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irthdays Text"/>
          <p:cNvSpPr txBox="1"/>
          <p:nvPr/>
        </p:nvSpPr>
        <p:spPr>
          <a:xfrm>
            <a:off x="6425184" y="1847088"/>
            <a:ext cx="1545336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Calibri"/>
              </a:defRPr>
            </a:pPr>
            <a:r>
              <a:t>MM/DD - Name</a:t>
            </a:r>
            <a:br/>
            <a:r>
              <a:t>MM/DD - Name</a:t>
            </a:r>
            <a:br/>
            <a:r>
              <a:t>MM/DD - Name</a:t>
            </a:r>
            <a:br/>
            <a:r>
              <a:t>MM/DD - Name</a:t>
            </a:r>
            <a:br/>
            <a:r>
              <a:t>MM/DD - Name</a:t>
            </a:r>
          </a:p>
        </p:txBody>
      </p:sp>
      <p:sp>
        <p:nvSpPr>
          <p:cNvPr id="18" name="Tithes Box"/>
          <p:cNvSpPr/>
          <p:nvPr/>
        </p:nvSpPr>
        <p:spPr>
          <a:xfrm>
            <a:off x="4541520" y="3154680"/>
            <a:ext cx="1691640" cy="777240"/>
          </a:xfrm>
          <a:prstGeom prst="roundRect">
            <a:avLst/>
          </a:prstGeom>
          <a:solidFill>
            <a:srgbClr val="FFF2DC"/>
          </a:solidFill>
          <a:ln w="9525">
            <a:solidFill>
              <a:srgbClr val="F6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thes Header"/>
          <p:cNvSpPr txBox="1"/>
          <p:nvPr/>
        </p:nvSpPr>
        <p:spPr>
          <a:xfrm>
            <a:off x="4632960" y="3236976"/>
            <a:ext cx="150876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100" b="1" i="0">
                <a:solidFill>
                  <a:srgbClr val="111111"/>
                </a:solidFill>
                <a:latin typeface="Calibri"/>
              </a:defRPr>
            </a:pPr>
            <a:r>
              <a:t>Tithes and Offerings</a:t>
            </a:r>
          </a:p>
        </p:txBody>
      </p:sp>
      <p:sp>
        <p:nvSpPr>
          <p:cNvPr id="20" name="Tithes Amount"/>
          <p:cNvSpPr txBox="1"/>
          <p:nvPr/>
        </p:nvSpPr>
        <p:spPr>
          <a:xfrm>
            <a:off x="4770120" y="3493008"/>
            <a:ext cx="12344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200" b="0" i="0">
                <a:solidFill>
                  <a:srgbClr val="111111"/>
                </a:solidFill>
                <a:latin typeface="Calibri"/>
              </a:defRPr>
            </a:pPr>
            <a:r>
              <a:t>[DATE]</a:t>
            </a:r>
            <a:br/>
            <a:r>
              <a:t>[$ AMOUNT]</a:t>
            </a:r>
          </a:p>
        </p:txBody>
      </p:sp>
      <p:sp>
        <p:nvSpPr>
          <p:cNvPr id="21" name="Ride Box"/>
          <p:cNvSpPr/>
          <p:nvPr/>
        </p:nvSpPr>
        <p:spPr>
          <a:xfrm>
            <a:off x="6352032" y="3154680"/>
            <a:ext cx="1691640" cy="777240"/>
          </a:xfrm>
          <a:prstGeom prst="roundRect">
            <a:avLst/>
          </a:prstGeom>
          <a:solidFill>
            <a:srgbClr val="EAF6FB"/>
          </a:solidFill>
          <a:ln w="9525">
            <a:solidFill>
              <a:srgbClr val="BB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de Header"/>
          <p:cNvSpPr txBox="1"/>
          <p:nvPr/>
        </p:nvSpPr>
        <p:spPr>
          <a:xfrm>
            <a:off x="6480048" y="3236976"/>
            <a:ext cx="14173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100" b="1" i="0">
                <a:solidFill>
                  <a:srgbClr val="111111"/>
                </a:solidFill>
                <a:latin typeface="Calibri"/>
              </a:defRPr>
            </a:pPr>
            <a:r>
              <a:t>Need a ride to church?</a:t>
            </a:r>
          </a:p>
        </p:txBody>
      </p:sp>
      <p:sp>
        <p:nvSpPr>
          <p:cNvPr id="23" name="Ride Info"/>
          <p:cNvSpPr txBox="1"/>
          <p:nvPr/>
        </p:nvSpPr>
        <p:spPr>
          <a:xfrm>
            <a:off x="6480048" y="3493008"/>
            <a:ext cx="141732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050" b="0" i="0">
                <a:solidFill>
                  <a:srgbClr val="111111"/>
                </a:solidFill>
                <a:latin typeface="Calibri"/>
              </a:defRPr>
            </a:pPr>
            <a:r>
              <a:t>Call Lara Fullington</a:t>
            </a:r>
            <a:br/>
            <a:r>
              <a:t>731-217-0139</a:t>
            </a:r>
          </a:p>
        </p:txBody>
      </p:sp>
      <p:sp>
        <p:nvSpPr>
          <p:cNvPr id="24" name="Fund Balances Header"/>
          <p:cNvSpPr/>
          <p:nvPr/>
        </p:nvSpPr>
        <p:spPr>
          <a:xfrm>
            <a:off x="4541520" y="4160520"/>
            <a:ext cx="3502152" cy="256032"/>
          </a:xfrm>
          <a:prstGeom prst="rect">
            <a:avLst/>
          </a:prstGeom>
          <a:solidFill>
            <a:srgbClr val="075E80"/>
          </a:solidFill>
          <a:ln w="9525">
            <a:solidFill>
              <a:srgbClr val="075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>
            <a:norm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FUND BALANCES</a:t>
            </a:r>
          </a:p>
        </p:txBody>
      </p:sp>
      <p:sp>
        <p:nvSpPr>
          <p:cNvPr id="25" name="Fund Balances Box"/>
          <p:cNvSpPr/>
          <p:nvPr/>
        </p:nvSpPr>
        <p:spPr>
          <a:xfrm>
            <a:off x="4541520" y="4453128"/>
            <a:ext cx="3502152" cy="149047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und Balances Text"/>
          <p:cNvSpPr txBox="1"/>
          <p:nvPr/>
        </p:nvSpPr>
        <p:spPr>
          <a:xfrm>
            <a:off x="4614672" y="4526280"/>
            <a:ext cx="3355848" cy="137160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Calibri"/>
              </a:defRPr>
            </a:pPr>
            <a:r>
              <a:t>General Fund — $</a:t>
            </a:r>
            <a:br/>
            <a:r>
              <a:t>Building Fund — $</a:t>
            </a:r>
            <a:br/>
            <a:r>
              <a:t>Gravel Fund — $</a:t>
            </a:r>
            <a:br/>
            <a:r>
              <a:t>Emergency Fund — $</a:t>
            </a:r>
            <a:br/>
            <a:r>
              <a:t>Missions Fund 1 — $</a:t>
            </a:r>
            <a:br/>
            <a:r>
              <a:t>Missions Fund 2 — $</a:t>
            </a:r>
            <a:br/>
            <a:r>
              <a:t>Handsful on Purpose — $</a:t>
            </a:r>
            <a:br/>
            <a:r>
              <a:t>Outreach Fund — $</a:t>
            </a:r>
            <a:br/>
            <a:r>
              <a:t>Celebrate Recovery — $</a:t>
            </a:r>
            <a:br/>
            <a:r>
              <a:t>Youth Fund — $</a:t>
            </a:r>
            <a:br/>
            <a:r>
              <a:t>Children’s Fund — $</a:t>
            </a:r>
          </a:p>
        </p:txBody>
      </p:sp>
      <p:pic>
        <p:nvPicPr>
          <p:cNvPr id="27" name="Static Whats Next Card" descr="p2_img3_xref1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5568" y="228600"/>
            <a:ext cx="1261872" cy="3246120"/>
          </a:xfrm>
          <a:prstGeom prst="rect">
            <a:avLst/>
          </a:prstGeom>
        </p:spPr>
      </p:pic>
      <p:pic>
        <p:nvPicPr>
          <p:cNvPr id="28" name="Static Connect Card" descr="p1_img5_xref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4640" y="137160"/>
            <a:ext cx="1645920" cy="3977639"/>
          </a:xfrm>
          <a:prstGeom prst="rect">
            <a:avLst/>
          </a:prstGeom>
        </p:spPr>
      </p:pic>
      <p:sp>
        <p:nvSpPr>
          <p:cNvPr id="29" name="Dont Forget Header"/>
          <p:cNvSpPr/>
          <p:nvPr/>
        </p:nvSpPr>
        <p:spPr>
          <a:xfrm>
            <a:off x="8735568" y="4370832"/>
            <a:ext cx="3566160" cy="256032"/>
          </a:xfrm>
          <a:prstGeom prst="rect">
            <a:avLst/>
          </a:prstGeom>
          <a:solidFill>
            <a:srgbClr val="0B7FAB"/>
          </a:solidFill>
          <a:ln w="9525">
            <a:solidFill>
              <a:srgbClr val="0B7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>
            <a:norm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DON’T FORGET</a:t>
            </a:r>
          </a:p>
        </p:txBody>
      </p:sp>
      <p:sp>
        <p:nvSpPr>
          <p:cNvPr id="30" name="Dont Forget Box"/>
          <p:cNvSpPr/>
          <p:nvPr/>
        </p:nvSpPr>
        <p:spPr>
          <a:xfrm>
            <a:off x="8735568" y="4663440"/>
            <a:ext cx="3566160" cy="822959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nt Forget Text"/>
          <p:cNvSpPr txBox="1"/>
          <p:nvPr/>
        </p:nvSpPr>
        <p:spPr>
          <a:xfrm>
            <a:off x="8808720" y="4736592"/>
            <a:ext cx="3419856" cy="704088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Calibri"/>
              </a:defRPr>
            </a:pPr>
            <a:r>
              <a:t>Please fill out your Connect Card. Let us know that you are here, note prayer requests and praise reports, and tell us if you make a decision for Jesus Christ today. We want to celebrate with you!</a:t>
            </a:r>
          </a:p>
        </p:txBody>
      </p:sp>
      <p:sp>
        <p:nvSpPr>
          <p:cNvPr id="32" name="Decision Reminder Box"/>
          <p:cNvSpPr/>
          <p:nvPr/>
        </p:nvSpPr>
        <p:spPr>
          <a:xfrm>
            <a:off x="8735568" y="5742432"/>
            <a:ext cx="3566160" cy="640080"/>
          </a:xfrm>
          <a:prstGeom prst="roundRect">
            <a:avLst/>
          </a:prstGeom>
          <a:solidFill>
            <a:srgbClr val="FFF2DC"/>
          </a:solidFill>
          <a:ln w="9525">
            <a:solidFill>
              <a:srgbClr val="F6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cision Header"/>
          <p:cNvSpPr txBox="1"/>
          <p:nvPr/>
        </p:nvSpPr>
        <p:spPr>
          <a:xfrm>
            <a:off x="8854440" y="5824728"/>
            <a:ext cx="333756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100" b="1" i="0">
                <a:solidFill>
                  <a:srgbClr val="111111"/>
                </a:solidFill>
                <a:latin typeface="Calibri"/>
              </a:defRPr>
            </a:pPr>
            <a:r>
              <a:t>Decision / Next Step Reminder</a:t>
            </a:r>
          </a:p>
        </p:txBody>
      </p:sp>
      <p:sp>
        <p:nvSpPr>
          <p:cNvPr id="34" name="Decision Text"/>
          <p:cNvSpPr txBox="1"/>
          <p:nvPr/>
        </p:nvSpPr>
        <p:spPr>
          <a:xfrm>
            <a:off x="8927592" y="6080760"/>
            <a:ext cx="318211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000" b="0" i="0">
                <a:solidFill>
                  <a:srgbClr val="111111"/>
                </a:solidFill>
                <a:latin typeface="Calibri"/>
              </a:defRPr>
            </a:pPr>
            <a:r>
              <a:t>[Short reminder or call to action here.]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